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session: AI raises the quality of the output and lowers the quality of your read on it. Everything today is about keeping the second thing intact.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finding. The signal we normally use to judge ourselves is how the work went; AI breaks that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new advice about AI. It is thirty years of metacognition research applied to AI-assisted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the feeling from the fact. Confidence and accuracy are two different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framework: seven axes, three stages, then one outcome. Each axis is a spectrum, not a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Axes 01 and 02: the decisions you make before you start typing.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Axes 03 to 05: what happens during the work. This is where most of the damage is done quietly.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Axes 06 and 07: what you are left holding when the work is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factors set how hard each axis pulls. Novices under time pressure on a complex task are the most exposed.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08 is the outcome the other seven produce: the gap between how good you think the work is and how good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two failure modes. Overtrust gets the attention; undertrust also has a real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checks to run after the work is done. Step one is the one people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habits to apply during the work, each tied back to the axes.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tagline: the skill and the judgment are two separate things to protect.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1047750"/>
            <a:ext cx="571500" cy="600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9750" y="1185863"/>
            <a:ext cx="33572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70"/>
              </a:lnSpc>
              <a:buNone/>
            </a:pPr>
            <a:r>
              <a:rPr lang="en-US" sz="2550" b="1" spc="51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 ACUMEN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1047750" y="3388891"/>
            <a:ext cx="17811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9DB0C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WORKING WITH AI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047750" y="4103266"/>
            <a:ext cx="14716125" cy="2692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04"/>
              </a:lnSpc>
              <a:buNone/>
            </a:pPr>
            <a:r>
              <a:rPr lang="en-US" sz="6450" b="1" spc="-193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can make your work better. It can also make you a worse judge of your work.</a:t>
            </a:r>
            <a:endParaRPr lang="en-US" sz="6450" dirty="0"/>
          </a:p>
        </p:txBody>
      </p:sp>
      <p:sp>
        <p:nvSpPr>
          <p:cNvPr id="6" name="Shape 3"/>
          <p:cNvSpPr/>
          <p:nvPr/>
        </p:nvSpPr>
        <p:spPr>
          <a:xfrm>
            <a:off x="1047750" y="8498235"/>
            <a:ext cx="16192500" cy="9525"/>
          </a:xfrm>
          <a:prstGeom prst="rect">
            <a:avLst/>
          </a:prstGeom>
          <a:solidFill>
            <a:srgbClr val="4E6D99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9048750"/>
            <a:ext cx="545664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7D2E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 the skill. Keep the judgment.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157585" y="8812560"/>
            <a:ext cx="608266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6230"/>
              </a:lnSpc>
              <a:buNone/>
            </a:pPr>
            <a:r>
              <a:rPr lang="en-US" sz="1800" dirty="0">
                <a:solidFill>
                  <a:srgbClr val="7F98B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“Self-Evaluation in AI-Assisted Cognition,” Journal of Intelligence 2026, 14(7), 112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957263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952500"/>
            <a:ext cx="22705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FINDING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047750" y="1819275"/>
            <a:ext cx="1530477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65"/>
              </a:lnSpc>
              <a:buNone/>
            </a:pPr>
            <a:r>
              <a:rPr lang="en-US" sz="4050" spc="-81" kern="0" dirty="0">
                <a:solidFill>
                  <a:srgbClr val="1D293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 judge our own ability by how the work went. When AI does part of the work, that signal breaks.</a:t>
            </a:r>
            <a:endParaRPr lang="en-US" sz="4050" dirty="0"/>
          </a:p>
        </p:txBody>
      </p:sp>
      <p:sp>
        <p:nvSpPr>
          <p:cNvPr id="5" name="Shape 2"/>
          <p:cNvSpPr/>
          <p:nvPr/>
        </p:nvSpPr>
        <p:spPr>
          <a:xfrm>
            <a:off x="1047750" y="3638550"/>
            <a:ext cx="57150" cy="102870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6" name="Text 3"/>
          <p:cNvSpPr/>
          <p:nvPr/>
        </p:nvSpPr>
        <p:spPr>
          <a:xfrm>
            <a:off x="1447800" y="3638550"/>
            <a:ext cx="1373505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931"/>
              </a:lnSpc>
              <a:buNone/>
            </a:pPr>
            <a:r>
              <a:rPr lang="en-US" sz="3000" b="1" spc="-45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fast, polished result feels like proof you are good at something, when it is proof the tool is.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47750" y="9216405"/>
            <a:ext cx="1781175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30"/>
              </a:lnSpc>
              <a:buNone/>
            </a:pPr>
            <a:r>
              <a:rPr lang="en-US" sz="1800" dirty="0">
                <a:solidFill>
                  <a:srgbClr val="858E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“Self-Evaluation in AI-Assisted Cognition,” Journal of Intelligence 2026, 14(7), 112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957263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952500"/>
            <a:ext cx="42101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WHERE IT COMES FROM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047750" y="1495425"/>
            <a:ext cx="14716125" cy="1403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43"/>
              </a:lnSpc>
              <a:buNone/>
            </a:pPr>
            <a:r>
              <a:rPr lang="en-US" sz="4800" b="1" spc="-14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synthesis of three decades of research, re-examined for work done with AI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1047750" y="3527673"/>
            <a:ext cx="7762875" cy="3810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870573"/>
            <a:ext cx="85391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NELSON &amp; NARENS, 1990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4356348"/>
            <a:ext cx="7995761" cy="10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50" b="1" spc="-69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people monitor their own thinking</a:t>
            </a:r>
            <a:endParaRPr lang="en-US" sz="3450" dirty="0"/>
          </a:p>
        </p:txBody>
      </p:sp>
      <p:sp>
        <p:nvSpPr>
          <p:cNvPr id="8" name="Text 5"/>
          <p:cNvSpPr/>
          <p:nvPr/>
        </p:nvSpPr>
        <p:spPr>
          <a:xfrm>
            <a:off x="1047750" y="5535513"/>
            <a:ext cx="79957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Whether you can tell, in the moment, how well the thinking is going.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9477375" y="3527673"/>
            <a:ext cx="7762875" cy="3810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10" name="Text 7"/>
          <p:cNvSpPr/>
          <p:nvPr/>
        </p:nvSpPr>
        <p:spPr>
          <a:xfrm>
            <a:off x="9477375" y="3870573"/>
            <a:ext cx="85391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WINNE &amp; HADWIN, 1998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477375" y="4356348"/>
            <a:ext cx="7995761" cy="10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50" b="1" spc="-69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people manage their own learning</a:t>
            </a:r>
            <a:endParaRPr lang="en-US" sz="3450" dirty="0"/>
          </a:p>
        </p:txBody>
      </p:sp>
      <p:sp>
        <p:nvSpPr>
          <p:cNvPr id="12" name="Text 9"/>
          <p:cNvSpPr/>
          <p:nvPr/>
        </p:nvSpPr>
        <p:spPr>
          <a:xfrm>
            <a:off x="9477375" y="5535513"/>
            <a:ext cx="79957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you do with that reading: plan, adjust, and check your work.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957263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952500"/>
            <a:ext cx="57397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CONFIDENCE IS NOT ACCURACY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047750" y="1762125"/>
            <a:ext cx="150876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43"/>
              </a:lnSpc>
              <a:buNone/>
            </a:pPr>
            <a:r>
              <a:rPr lang="en-US" sz="4800" b="1" spc="-14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Feeling sure and being right are different things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1047750" y="2921124"/>
            <a:ext cx="7924800" cy="2338388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504950" y="3359274"/>
            <a:ext cx="771144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 and wrong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504950" y="4021262"/>
            <a:ext cx="722071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work reads well, so the errors never get looked for.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9315450" y="2921124"/>
            <a:ext cx="7924800" cy="2338388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772650" y="3359274"/>
            <a:ext cx="771144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Hesitant and correct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9772650" y="4021262"/>
            <a:ext cx="722071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doubt is uncomfortable and the judgment is sound.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047750" y="9036397"/>
            <a:ext cx="157162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75"/>
              </a:lnSpc>
              <a:buNone/>
            </a:pPr>
            <a:r>
              <a:rPr lang="en-US" sz="285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widens that gap by making every result feel sure.</a:t>
            </a:r>
            <a:endParaRPr lang="en-US" sz="2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FRAMEWORK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476375"/>
            <a:ext cx="1781175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43"/>
              </a:lnSpc>
              <a:buNone/>
            </a:pPr>
            <a:r>
              <a:rPr lang="en-US" sz="4800" b="1" spc="-14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Seven axes, three stages, one outcome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578224"/>
            <a:ext cx="89058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◀ YOU GET SHARPER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334375" y="2644899"/>
            <a:ext cx="89058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spc="210" kern="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 LOSE THE THREAD ▶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3130674"/>
            <a:ext cx="1619250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2305B">
                  <a:alpha val="100000"/>
                </a:srgbClr>
              </a:gs>
              <a:gs pos="52000">
                <a:srgbClr val="7F98BA">
                  <a:alpha val="100000"/>
                </a:srgbClr>
              </a:gs>
              <a:gs pos="100000">
                <a:srgbClr val="E4E7EC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1047750" y="3378324"/>
            <a:ext cx="1781175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axis is a spectrum. The same tool sits at either end depending on how it is used.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4265042"/>
            <a:ext cx="3833812" cy="38100"/>
          </a:xfrm>
          <a:prstGeom prst="rect">
            <a:avLst/>
          </a:prstGeom>
          <a:solidFill>
            <a:srgbClr val="12305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4569842"/>
            <a:ext cx="285750" cy="285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47750" y="5007992"/>
            <a:ext cx="421719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Decide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047750" y="5593779"/>
            <a:ext cx="421719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Where AI enters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47750" y="6106195"/>
            <a:ext cx="42171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AXES 01–02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167313" y="4265042"/>
            <a:ext cx="3833812" cy="38100"/>
          </a:xfrm>
          <a:prstGeom prst="rect">
            <a:avLst/>
          </a:prstGeom>
          <a:solidFill>
            <a:srgbClr val="12305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7313" y="4569842"/>
            <a:ext cx="285750" cy="285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7313" y="5007992"/>
            <a:ext cx="421719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Iterate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5167313" y="5593779"/>
            <a:ext cx="421719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you work with it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5167313" y="6106195"/>
            <a:ext cx="42171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AXES 03–05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9286875" y="4265042"/>
            <a:ext cx="3833812" cy="38100"/>
          </a:xfrm>
          <a:prstGeom prst="rect">
            <a:avLst/>
          </a:prstGeom>
          <a:solidFill>
            <a:srgbClr val="1230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6875" y="4569842"/>
            <a:ext cx="285750" cy="2857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86875" y="5007992"/>
            <a:ext cx="421719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</a:t>
            </a:r>
            <a:endParaRPr lang="en-US" sz="2700" dirty="0"/>
          </a:p>
        </p:txBody>
      </p:sp>
      <p:sp>
        <p:nvSpPr>
          <p:cNvPr id="21" name="Text 16"/>
          <p:cNvSpPr/>
          <p:nvPr/>
        </p:nvSpPr>
        <p:spPr>
          <a:xfrm>
            <a:off x="9286875" y="5593779"/>
            <a:ext cx="421719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you walk away with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9286875" y="6106195"/>
            <a:ext cx="42171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AXES 06–07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13215938" y="3998342"/>
            <a:ext cx="4214813" cy="2398365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24" name="Shape 19"/>
          <p:cNvSpPr/>
          <p:nvPr/>
        </p:nvSpPr>
        <p:spPr>
          <a:xfrm>
            <a:off x="13215938" y="3998342"/>
            <a:ext cx="4214813" cy="38100"/>
          </a:xfrm>
          <a:prstGeom prst="rect">
            <a:avLst/>
          </a:prstGeom>
          <a:solidFill>
            <a:srgbClr val="12305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06438" y="4303142"/>
            <a:ext cx="285750" cy="2857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406438" y="4741292"/>
            <a:ext cx="421719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Reflect</a:t>
            </a:r>
            <a:endParaRPr lang="en-US" sz="2700" dirty="0"/>
          </a:p>
        </p:txBody>
      </p:sp>
      <p:sp>
        <p:nvSpPr>
          <p:cNvPr id="27" name="Text 21"/>
          <p:cNvSpPr/>
          <p:nvPr/>
        </p:nvSpPr>
        <p:spPr>
          <a:xfrm>
            <a:off x="13406438" y="5327079"/>
            <a:ext cx="421719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well you judge yourself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13406438" y="5839495"/>
            <a:ext cx="42171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AXIS 08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871538"/>
            <a:ext cx="285750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6850" y="857250"/>
            <a:ext cx="12061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DECIDE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047750" y="1323975"/>
            <a:ext cx="4479786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4500" b="1" spc="-135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Where AI enters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15540782" y="1649685"/>
            <a:ext cx="18694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AXES 01–02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441960" y="2345010"/>
            <a:ext cx="66636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180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◀ YOU GET SHARPER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82350" y="2397398"/>
            <a:ext cx="66636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 LOSE THE THREAD ▶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47750" y="3068910"/>
            <a:ext cx="161925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2305B">
                  <a:alpha val="100000"/>
                </a:srgbClr>
              </a:gs>
              <a:gs pos="52000">
                <a:srgbClr val="7F98BA">
                  <a:alpha val="100000"/>
                </a:srgbClr>
              </a:gs>
              <a:gs pos="100000">
                <a:srgbClr val="E4E7EC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" name="Shape 6"/>
          <p:cNvSpPr/>
          <p:nvPr/>
        </p:nvSpPr>
        <p:spPr>
          <a:xfrm>
            <a:off x="1047750" y="3526110"/>
            <a:ext cx="16192500" cy="9525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10" name="Text 7"/>
          <p:cNvSpPr/>
          <p:nvPr/>
        </p:nvSpPr>
        <p:spPr>
          <a:xfrm>
            <a:off x="441960" y="4229993"/>
            <a:ext cx="666369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2791"/>
              </a:lnSpc>
              <a:buNone/>
            </a:pPr>
            <a:r>
              <a:rPr lang="en-US" sz="255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Early, to help you frame the problem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7334250" y="3535635"/>
            <a:ext cx="3619500" cy="180975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2" name="Text 9"/>
          <p:cNvSpPr/>
          <p:nvPr/>
        </p:nvSpPr>
        <p:spPr>
          <a:xfrm>
            <a:off x="8972773" y="4081388"/>
            <a:ext cx="342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408418" y="4405238"/>
            <a:ext cx="3471163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989"/>
              </a:lnSpc>
              <a:buNone/>
            </a:pPr>
            <a:r>
              <a:rPr lang="en-US" sz="2700" b="1" spc="-5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When you bring AI in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1182350" y="4229993"/>
            <a:ext cx="666369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791"/>
              </a:lnSpc>
              <a:buNone/>
            </a:pPr>
            <a:r>
              <a:rPr lang="en-US" sz="255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 the end, to produce the answer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1047750" y="5383485"/>
            <a:ext cx="16192500" cy="9525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16" name="Text 13"/>
          <p:cNvSpPr/>
          <p:nvPr/>
        </p:nvSpPr>
        <p:spPr>
          <a:xfrm>
            <a:off x="866013" y="5876925"/>
            <a:ext cx="6239637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2791"/>
              </a:lnSpc>
              <a:buNone/>
            </a:pPr>
            <a:r>
              <a:rPr lang="en-US" sz="255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 offers options you compare and check</a:t>
            </a:r>
            <a:endParaRPr lang="en-US" sz="2550" dirty="0"/>
          </a:p>
        </p:txBody>
      </p:sp>
      <p:sp>
        <p:nvSpPr>
          <p:cNvPr id="17" name="Shape 14"/>
          <p:cNvSpPr/>
          <p:nvPr/>
        </p:nvSpPr>
        <p:spPr>
          <a:xfrm>
            <a:off x="7334250" y="5393010"/>
            <a:ext cx="3619500" cy="180975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8" name="Text 15"/>
          <p:cNvSpPr/>
          <p:nvPr/>
        </p:nvSpPr>
        <p:spPr>
          <a:xfrm>
            <a:off x="8952384" y="5938763"/>
            <a:ext cx="3832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568282" y="6262613"/>
            <a:ext cx="3151436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989"/>
              </a:lnSpc>
              <a:buNone/>
            </a:pPr>
            <a:r>
              <a:rPr lang="en-US" sz="2700" b="1" spc="-5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Coach or stand-in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1182350" y="6087368"/>
            <a:ext cx="666369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791"/>
              </a:lnSpc>
              <a:buNone/>
            </a:pPr>
            <a:r>
              <a:rPr lang="en-US" sz="255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 does the thinking, you accept it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871538"/>
            <a:ext cx="285750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6850" y="857250"/>
            <a:ext cx="13227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ITERATE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047750" y="1323975"/>
            <a:ext cx="5843007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4500" b="1" spc="-135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you work with it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15484748" y="1649685"/>
            <a:ext cx="193105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AXES 03–05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441960" y="2287860"/>
            <a:ext cx="66636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180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◀ YOU GET SHARPER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82350" y="2340248"/>
            <a:ext cx="66636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 LOSE THE THREAD ▶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47750" y="2954610"/>
            <a:ext cx="161925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2305B">
                  <a:alpha val="100000"/>
                </a:srgbClr>
              </a:gs>
              <a:gs pos="52000">
                <a:srgbClr val="7F98BA">
                  <a:alpha val="100000"/>
                </a:srgbClr>
              </a:gs>
              <a:gs pos="100000">
                <a:srgbClr val="E4E7EC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" name="Shape 6"/>
          <p:cNvSpPr/>
          <p:nvPr/>
        </p:nvSpPr>
        <p:spPr>
          <a:xfrm>
            <a:off x="1047750" y="3354660"/>
            <a:ext cx="16192500" cy="9525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10" name="Text 7"/>
          <p:cNvSpPr/>
          <p:nvPr/>
        </p:nvSpPr>
        <p:spPr>
          <a:xfrm>
            <a:off x="441960" y="3892823"/>
            <a:ext cx="66636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 what good looks like, then check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334250" y="3364185"/>
            <a:ext cx="3619500" cy="142875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2" name="Text 9"/>
          <p:cNvSpPr/>
          <p:nvPr/>
        </p:nvSpPr>
        <p:spPr>
          <a:xfrm>
            <a:off x="8950896" y="3739976"/>
            <a:ext cx="3862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396144" y="4044776"/>
            <a:ext cx="3495638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930"/>
              </a:lnSpc>
              <a:buNone/>
            </a:pPr>
            <a:r>
              <a:rPr lang="en-US" sz="2550" b="1" spc="-51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Who is keeping score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1182350" y="3892823"/>
            <a:ext cx="66636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Let the tool keep score and disengage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1047750" y="4831035"/>
            <a:ext cx="16192500" cy="9525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16" name="Text 13"/>
          <p:cNvSpPr/>
          <p:nvPr/>
        </p:nvSpPr>
        <p:spPr>
          <a:xfrm>
            <a:off x="441960" y="5369198"/>
            <a:ext cx="66636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Spend it checking and improving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7334250" y="4840560"/>
            <a:ext cx="3619500" cy="142875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8" name="Text 15"/>
          <p:cNvSpPr/>
          <p:nvPr/>
        </p:nvSpPr>
        <p:spPr>
          <a:xfrm>
            <a:off x="8946431" y="5030167"/>
            <a:ext cx="3951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476173" y="5334967"/>
            <a:ext cx="3335655" cy="7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930"/>
              </a:lnSpc>
              <a:buNone/>
            </a:pPr>
            <a:r>
              <a:rPr lang="en-US" sz="2550" b="1" spc="-51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you do with the time saved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11182350" y="5369198"/>
            <a:ext cx="66636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Finishing faster becomes the whole point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1047750" y="6307410"/>
            <a:ext cx="16192500" cy="9525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22" name="Text 19"/>
          <p:cNvSpPr/>
          <p:nvPr/>
        </p:nvSpPr>
        <p:spPr>
          <a:xfrm>
            <a:off x="441960" y="6845573"/>
            <a:ext cx="66636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 question, connect, and rework it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7334250" y="6316935"/>
            <a:ext cx="3619500" cy="142875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4" name="Text 21"/>
          <p:cNvSpPr/>
          <p:nvPr/>
        </p:nvSpPr>
        <p:spPr>
          <a:xfrm>
            <a:off x="8950523" y="6506542"/>
            <a:ext cx="3868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7476173" y="6811342"/>
            <a:ext cx="3335655" cy="7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930"/>
              </a:lnSpc>
              <a:buNone/>
            </a:pPr>
            <a:r>
              <a:rPr lang="en-US" sz="2550" b="1" spc="-51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hard you actually think</a:t>
            </a:r>
            <a:endParaRPr lang="en-US" sz="2550" dirty="0"/>
          </a:p>
        </p:txBody>
      </p:sp>
      <p:sp>
        <p:nvSpPr>
          <p:cNvPr id="26" name="Text 23"/>
          <p:cNvSpPr/>
          <p:nvPr/>
        </p:nvSpPr>
        <p:spPr>
          <a:xfrm>
            <a:off x="11182350" y="6845573"/>
            <a:ext cx="66636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 skim, paste, and move on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871538"/>
            <a:ext cx="285750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6850" y="857250"/>
            <a:ext cx="123676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047750" y="1323975"/>
            <a:ext cx="7069529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4500" b="1" spc="-135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you walk away with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15500747" y="1649685"/>
            <a:ext cx="19134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AXES 06–07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441960" y="2345010"/>
            <a:ext cx="66636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180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◀ YOU GET SHARPER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82350" y="2397398"/>
            <a:ext cx="66636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 LOSE THE THREAD ▶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47750" y="3068910"/>
            <a:ext cx="161925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2305B">
                  <a:alpha val="100000"/>
                </a:srgbClr>
              </a:gs>
              <a:gs pos="52000">
                <a:srgbClr val="7F98BA">
                  <a:alpha val="100000"/>
                </a:srgbClr>
              </a:gs>
              <a:gs pos="100000">
                <a:srgbClr val="E4E7EC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" name="Shape 6"/>
          <p:cNvSpPr/>
          <p:nvPr/>
        </p:nvSpPr>
        <p:spPr>
          <a:xfrm>
            <a:off x="1047750" y="3526110"/>
            <a:ext cx="16192500" cy="9525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10" name="Text 7"/>
          <p:cNvSpPr/>
          <p:nvPr/>
        </p:nvSpPr>
        <p:spPr>
          <a:xfrm>
            <a:off x="441960" y="4229993"/>
            <a:ext cx="666369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2791"/>
              </a:lnSpc>
              <a:buNone/>
            </a:pPr>
            <a:r>
              <a:rPr lang="en-US" sz="255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 could produce this again unaided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7334250" y="3535635"/>
            <a:ext cx="3619500" cy="180975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2" name="Text 9"/>
          <p:cNvSpPr/>
          <p:nvPr/>
        </p:nvSpPr>
        <p:spPr>
          <a:xfrm>
            <a:off x="8951788" y="3884265"/>
            <a:ext cx="3843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476173" y="4208115"/>
            <a:ext cx="3335655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989"/>
              </a:lnSpc>
              <a:buNone/>
            </a:pPr>
            <a:r>
              <a:rPr lang="en-US" sz="2700" b="1" spc="-5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work vs. what you can do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1182350" y="4229993"/>
            <a:ext cx="666369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791"/>
              </a:lnSpc>
              <a:buNone/>
            </a:pPr>
            <a:r>
              <a:rPr lang="en-US" sz="255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Great result, no ability gained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1047750" y="5383485"/>
            <a:ext cx="16192500" cy="9525"/>
          </a:xfrm>
          <a:prstGeom prst="rect">
            <a:avLst/>
          </a:prstGeom>
          <a:solidFill>
            <a:srgbClr val="EDF0F4"/>
          </a:solidFill>
          <a:ln/>
        </p:spPr>
      </p:sp>
      <p:sp>
        <p:nvSpPr>
          <p:cNvPr id="16" name="Text 13"/>
          <p:cNvSpPr/>
          <p:nvPr/>
        </p:nvSpPr>
        <p:spPr>
          <a:xfrm>
            <a:off x="441960" y="6087368"/>
            <a:ext cx="666369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2791"/>
              </a:lnSpc>
              <a:buNone/>
            </a:pPr>
            <a:r>
              <a:rPr lang="en-US" sz="255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Trust earned by spot-checking</a:t>
            </a:r>
            <a:endParaRPr lang="en-US" sz="2550" dirty="0"/>
          </a:p>
        </p:txBody>
      </p:sp>
      <p:sp>
        <p:nvSpPr>
          <p:cNvPr id="17" name="Shape 14"/>
          <p:cNvSpPr/>
          <p:nvPr/>
        </p:nvSpPr>
        <p:spPr>
          <a:xfrm>
            <a:off x="7334250" y="5393010"/>
            <a:ext cx="3619500" cy="180975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8" name="Text 15"/>
          <p:cNvSpPr/>
          <p:nvPr/>
        </p:nvSpPr>
        <p:spPr>
          <a:xfrm>
            <a:off x="8956402" y="5741640"/>
            <a:ext cx="375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476173" y="6065490"/>
            <a:ext cx="3335655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989"/>
              </a:lnSpc>
              <a:buNone/>
            </a:pPr>
            <a:r>
              <a:rPr lang="en-US" sz="2700" b="1" spc="-5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much you trust it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1182350" y="6087368"/>
            <a:ext cx="6663690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791"/>
              </a:lnSpc>
              <a:buNone/>
            </a:pPr>
            <a:r>
              <a:rPr lang="en-US" sz="255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Trust given by default, errors invisible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CONTEXTUAL FACTORS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476375"/>
            <a:ext cx="1571625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4500" b="1" spc="-135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These set how strongly each axis moves the result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554560"/>
            <a:ext cx="3025080" cy="6970440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897460"/>
            <a:ext cx="2698939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30"/>
              </a:lnSpc>
              <a:buNone/>
            </a:pPr>
            <a:r>
              <a:rPr lang="en-US" sz="2550" b="1" spc="-38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complexity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" y="3422228"/>
            <a:ext cx="252978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025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Hard, open tasks hide the cues you would check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4339530" y="2554560"/>
            <a:ext cx="3025155" cy="6970440"/>
          </a:xfrm>
          <a:prstGeom prst="roundRect">
            <a:avLst>
              <a:gd name="adj" fmla="val 5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625280" y="2897460"/>
            <a:ext cx="2699020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30"/>
              </a:lnSpc>
              <a:buNone/>
            </a:pPr>
            <a:r>
              <a:rPr lang="en-US" sz="2550" b="1" spc="-38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expertise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625280" y="3422228"/>
            <a:ext cx="252985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025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Domain knowledge is your error detector; novices are most exposed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7631385" y="2554560"/>
            <a:ext cx="3025155" cy="6970440"/>
          </a:xfrm>
          <a:prstGeom prst="roundRect">
            <a:avLst>
              <a:gd name="adj" fmla="val 5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917135" y="2897460"/>
            <a:ext cx="2699020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30"/>
              </a:lnSpc>
              <a:buNone/>
            </a:pPr>
            <a:r>
              <a:rPr lang="en-US" sz="2550" b="1" spc="-38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literacy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917135" y="3422228"/>
            <a:ext cx="2529855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025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Knowing what the tool is bad at targets your trust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923240" y="2554560"/>
            <a:ext cx="3025155" cy="6970440"/>
          </a:xfrm>
          <a:prstGeom prst="roundRect">
            <a:avLst>
              <a:gd name="adj" fmla="val 5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208990" y="2897460"/>
            <a:ext cx="2699020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30"/>
              </a:lnSpc>
              <a:buNone/>
            </a:pPr>
            <a:r>
              <a:rPr lang="en-US" sz="2550" b="1" spc="-38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 pressure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208990" y="3422228"/>
            <a:ext cx="2529855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025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Rushing turns into accepting output unchecked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4215095" y="2554560"/>
            <a:ext cx="3025155" cy="6970440"/>
          </a:xfrm>
          <a:prstGeom prst="roundRect">
            <a:avLst>
              <a:gd name="adj" fmla="val 5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4500845" y="2897460"/>
            <a:ext cx="2529855" cy="7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30"/>
              </a:lnSpc>
              <a:buNone/>
            </a:pPr>
            <a:r>
              <a:rPr lang="en-US" sz="2550" b="1" spc="-38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transparency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4500845" y="3794596"/>
            <a:ext cx="2529855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025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Visible reasoning and sources are easier to judge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966788"/>
            <a:ext cx="285750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6850" y="952500"/>
            <a:ext cx="14369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REFLECT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2906539" y="964406"/>
            <a:ext cx="4191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3689152"/>
            <a:ext cx="8325111" cy="146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485"/>
              </a:lnSpc>
              <a:buNone/>
            </a:pPr>
            <a:r>
              <a:rPr lang="en-US" sz="5100" b="1" spc="-153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well you judge yourself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1047750" y="5418832"/>
            <a:ext cx="8325111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Self-evaluation accuracy is the gap between how good you think the work is and how good it actually is.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1047750" y="7083623"/>
            <a:ext cx="57150" cy="40005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7083623"/>
            <a:ext cx="85670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other seven axes decide how wide that gap gets.</a:t>
            </a:r>
            <a:endParaRPr lang="en-US" sz="2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13529" y="4110038"/>
            <a:ext cx="5905500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RELIANCE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476375"/>
            <a:ext cx="1781175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4500" b="1" spc="-135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Two ways to get reliance wrong, one way to get it right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592660"/>
            <a:ext cx="5194250" cy="6932340"/>
          </a:xfrm>
          <a:prstGeom prst="roundRect">
            <a:avLst>
              <a:gd name="adj" fmla="val 3668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592660"/>
            <a:ext cx="5194250" cy="76200"/>
          </a:xfrm>
          <a:prstGeom prst="rect">
            <a:avLst/>
          </a:prstGeom>
          <a:solidFill>
            <a:srgbClr val="9DB0CB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087960"/>
            <a:ext cx="487547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4E6D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Undertrust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428750" y="3783285"/>
            <a:ext cx="45652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Relying too little on a capable tool.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28750" y="7997279"/>
            <a:ext cx="48754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COST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28750" y="8359229"/>
            <a:ext cx="4565218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Missed insights, slower work, lost advantage.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46800" y="2592660"/>
            <a:ext cx="5194325" cy="6932340"/>
          </a:xfrm>
          <a:prstGeom prst="roundRect">
            <a:avLst>
              <a:gd name="adj" fmla="val 3667"/>
            </a:avLst>
          </a:prstGeom>
          <a:solidFill>
            <a:srgbClr val="12305B"/>
          </a:solidFill>
          <a:ln/>
        </p:spPr>
      </p:sp>
      <p:sp>
        <p:nvSpPr>
          <p:cNvPr id="11" name="Shape 9"/>
          <p:cNvSpPr/>
          <p:nvPr/>
        </p:nvSpPr>
        <p:spPr>
          <a:xfrm>
            <a:off x="6546800" y="2592660"/>
            <a:ext cx="5194325" cy="76200"/>
          </a:xfrm>
          <a:prstGeom prst="rect">
            <a:avLst/>
          </a:prstGeom>
          <a:solidFill>
            <a:srgbClr val="DE9E36"/>
          </a:solidFill>
          <a:ln/>
        </p:spPr>
      </p:sp>
      <p:sp>
        <p:nvSpPr>
          <p:cNvPr id="12" name="Text 10"/>
          <p:cNvSpPr/>
          <p:nvPr/>
        </p:nvSpPr>
        <p:spPr>
          <a:xfrm>
            <a:off x="6927800" y="3087960"/>
            <a:ext cx="487555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Calibrated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6927800" y="3783285"/>
            <a:ext cx="45652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C7D2E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Reliance matches checked performance.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927800" y="7997279"/>
            <a:ext cx="48755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9DB0C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PAYOFF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927800" y="8359229"/>
            <a:ext cx="4565295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E9ED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Best outcomes, balanced risk, confidence you can defend.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045925" y="2592660"/>
            <a:ext cx="5194250" cy="6932340"/>
          </a:xfrm>
          <a:prstGeom prst="roundRect">
            <a:avLst>
              <a:gd name="adj" fmla="val 3668"/>
            </a:avLst>
          </a:prstGeom>
          <a:solidFill>
            <a:srgbClr val="F7F9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45925" y="2592660"/>
            <a:ext cx="5194250" cy="76200"/>
          </a:xfrm>
          <a:prstGeom prst="rect">
            <a:avLst/>
          </a:prstGeom>
          <a:solidFill>
            <a:srgbClr val="98A2B3"/>
          </a:solidFill>
          <a:ln/>
        </p:spPr>
      </p:sp>
      <p:sp>
        <p:nvSpPr>
          <p:cNvPr id="18" name="Text 16"/>
          <p:cNvSpPr/>
          <p:nvPr/>
        </p:nvSpPr>
        <p:spPr>
          <a:xfrm>
            <a:off x="12426925" y="3087960"/>
            <a:ext cx="487547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Overtrust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2426925" y="3783285"/>
            <a:ext cx="45652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Relying too much on a fallible tool.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26925" y="7997279"/>
            <a:ext cx="48754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98A2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COST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426925" y="8359229"/>
            <a:ext cx="4565218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Missed errors, automation bias, an inflated sense of your skill.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AFTER THE WORK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362075"/>
            <a:ext cx="1781175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4500" b="1" spc="-135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to check yourself when the work is done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421210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659335"/>
            <a:ext cx="495300" cy="495300"/>
          </a:xfrm>
          <a:prstGeom prst="ellipse">
            <a:avLst/>
          </a:prstGeom>
          <a:solidFill>
            <a:srgbClr val="12305B"/>
          </a:solidFill>
          <a:ln/>
        </p:spPr>
      </p:sp>
      <p:sp>
        <p:nvSpPr>
          <p:cNvPr id="6" name="Text 4"/>
          <p:cNvSpPr/>
          <p:nvPr/>
        </p:nvSpPr>
        <p:spPr>
          <a:xfrm>
            <a:off x="1009650" y="265933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828800" y="2659335"/>
            <a:ext cx="1658187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Predict, then verify.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828800" y="3168923"/>
            <a:ext cx="1658187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33"/>
              </a:lnSpc>
              <a:buNone/>
            </a:pPr>
            <a:r>
              <a:rPr lang="en-US" sz="2175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 you check anything, say how well you think you did. The gap between your guess and reality is your calibration.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1047750" y="3803228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4041353"/>
            <a:ext cx="495300" cy="495300"/>
          </a:xfrm>
          <a:prstGeom prst="ellipse">
            <a:avLst/>
          </a:prstGeom>
          <a:solidFill>
            <a:srgbClr val="12305B"/>
          </a:solidFill>
          <a:ln/>
        </p:spPr>
      </p:sp>
      <p:sp>
        <p:nvSpPr>
          <p:cNvPr id="11" name="Text 9"/>
          <p:cNvSpPr/>
          <p:nvPr/>
        </p:nvSpPr>
        <p:spPr>
          <a:xfrm>
            <a:off x="1009650" y="4041353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828800" y="4041353"/>
            <a:ext cx="1253346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 the one test.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828800" y="4550941"/>
            <a:ext cx="1253346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33"/>
              </a:lnSpc>
              <a:buNone/>
            </a:pPr>
            <a:r>
              <a:rPr lang="en-US" sz="2175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Could you explain it, defend it, reproduce it, or apply it somewhere else without the tool?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047750" y="5185246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5423371"/>
            <a:ext cx="495300" cy="495300"/>
          </a:xfrm>
          <a:prstGeom prst="ellipse">
            <a:avLst/>
          </a:prstGeom>
          <a:solidFill>
            <a:srgbClr val="12305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9650" y="5423371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828800" y="5423371"/>
            <a:ext cx="1695259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Treat trust as a practice, not an attitude.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828800" y="5932959"/>
            <a:ext cx="1587379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33"/>
              </a:lnSpc>
              <a:buNone/>
            </a:pPr>
            <a:r>
              <a:rPr lang="en-US" sz="2175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 each output, choose: accept, verify, or question. Let what you verified set your confidence, not the tool’s usual reliability.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1047750" y="6953920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7192045"/>
            <a:ext cx="495300" cy="495300"/>
          </a:xfrm>
          <a:prstGeom prst="ellipse">
            <a:avLst/>
          </a:prstGeom>
          <a:solidFill>
            <a:srgbClr val="12305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9650" y="719204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828800" y="7192045"/>
            <a:ext cx="1138372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Discount the shine.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828800" y="7701632"/>
            <a:ext cx="1138372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33"/>
              </a:lnSpc>
              <a:buNone/>
            </a:pPr>
            <a:r>
              <a:rPr lang="en-US" sz="2175" dirty="0">
                <a:solidFill>
                  <a:srgbClr val="47546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Fluency, polish, and speed belong to the tool. They are not evidence of your skill.</a:t>
            </a:r>
            <a:endParaRPr lang="en-US" sz="21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WHILE YOU WORK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457325"/>
            <a:ext cx="1781175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4500" b="1" spc="-135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habits that keep the signal intact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573610"/>
            <a:ext cx="7762875" cy="3810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859360"/>
            <a:ext cx="85391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AXES 01–02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3264173"/>
            <a:ext cx="8539163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042"/>
              </a:lnSpc>
              <a:buNone/>
            </a:pPr>
            <a:r>
              <a:rPr lang="en-US" sz="2850" b="1" spc="-57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Decide AI’s function before you start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47750" y="3794671"/>
            <a:ext cx="7995761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Choose when and how it enters: to surface criteria, structure reflection, and support revision, not only to produce the final output.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77375" y="2573610"/>
            <a:ext cx="7762875" cy="3810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9" name="Text 7"/>
          <p:cNvSpPr/>
          <p:nvPr/>
        </p:nvSpPr>
        <p:spPr>
          <a:xfrm>
            <a:off x="9477375" y="2859360"/>
            <a:ext cx="85391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AXES 03–05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77375" y="3264173"/>
            <a:ext cx="8539163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042"/>
              </a:lnSpc>
              <a:buNone/>
            </a:pPr>
            <a:r>
              <a:rPr lang="en-US" sz="2850" b="1" spc="-57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Attempt first, then compare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477375" y="3794671"/>
            <a:ext cx="7995761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Make an independent first attempt, compare your version with the AI’s, and mark out its contribution when you assess yourself.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50" y="6258818"/>
            <a:ext cx="7762875" cy="3810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6544568"/>
            <a:ext cx="85391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AXIS 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7750" y="6949380"/>
            <a:ext cx="8539163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042"/>
              </a:lnSpc>
              <a:buNone/>
            </a:pPr>
            <a:r>
              <a:rPr lang="en-US" sz="2850" b="1" spc="-57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Ask for reasoning, not just answers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047750" y="7479878"/>
            <a:ext cx="7995761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Have it surface criteria, options, counterpoints, and the sources behind them: ask for citations you can open and check, not just answers.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77375" y="6258818"/>
            <a:ext cx="7762875" cy="3810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17" name="Text 15"/>
          <p:cNvSpPr/>
          <p:nvPr/>
        </p:nvSpPr>
        <p:spPr>
          <a:xfrm>
            <a:off x="9477375" y="6544568"/>
            <a:ext cx="85391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230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AXIS 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77375" y="6949380"/>
            <a:ext cx="8539163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042"/>
              </a:lnSpc>
              <a:buNone/>
            </a:pPr>
            <a:r>
              <a:rPr lang="en-US" sz="2850" b="1" spc="-57" kern="0" dirty="0">
                <a:solidFill>
                  <a:srgbClr val="1018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Reinvest the time it saves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477375" y="7479878"/>
            <a:ext cx="7995761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66708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Spend the saved effort on comparing, improving, and understanding, not just on finishing sooner.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1047750"/>
            <a:ext cx="571500" cy="600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9750" y="1185863"/>
            <a:ext cx="33572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70"/>
              </a:lnSpc>
              <a:buNone/>
            </a:pPr>
            <a:r>
              <a:rPr lang="en-US" sz="2550" b="1" spc="51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 ACUMEN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1047750" y="4646340"/>
            <a:ext cx="1362075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713"/>
              </a:lnSpc>
              <a:buNone/>
            </a:pPr>
            <a:r>
              <a:rPr lang="en-US" sz="6000" b="1" spc="-18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 the skill. Keep the judgment.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1047750" y="8498235"/>
            <a:ext cx="16192500" cy="9525"/>
          </a:xfrm>
          <a:prstGeom prst="rect">
            <a:avLst/>
          </a:prstGeom>
          <a:solidFill>
            <a:srgbClr val="4E6D9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9029700"/>
            <a:ext cx="9088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C7D2E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output belongs to the tool. The judgment is yours to keep.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1157585" y="8812560"/>
            <a:ext cx="608266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6230"/>
              </a:lnSpc>
              <a:buNone/>
            </a:pPr>
            <a:r>
              <a:rPr lang="en-US" sz="1800" dirty="0">
                <a:solidFill>
                  <a:srgbClr val="7F98B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“Self-Evaluation in AI-Assisted Cognition,” Journal of Intelligence 2026, 14(7), 112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2026-08-19T02:01:59Z</dcterms:created>
  <dcterms:modified xsi:type="dcterms:W3CDTF">2026-08-19T02:01:59Z</dcterms:modified>
</cp:coreProperties>
</file>